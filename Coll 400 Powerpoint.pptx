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sldIdLst>
    <p:sldId id="256" r:id="rId5"/>
    <p:sldId id="257" r:id="rId6"/>
    <p:sldId id="258" r:id="rId7"/>
    <p:sldId id="260" r:id="rId8"/>
    <p:sldId id="261" r:id="rId9"/>
    <p:sldId id="270" r:id="rId10"/>
    <p:sldId id="262" r:id="rId11"/>
    <p:sldId id="263" r:id="rId12"/>
    <p:sldId id="264" r:id="rId13"/>
    <p:sldId id="265" r:id="rId14"/>
    <p:sldId id="271" r:id="rId15"/>
    <p:sldId id="266" r:id="rId16"/>
    <p:sldId id="267" r:id="rId17"/>
    <p:sldId id="268" r:id="rId18"/>
    <p:sldId id="269"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564AFA-1F0E-FCA0-5810-8FB3CE4DD200}" v="32" dt="2026-04-30T18:22:50.188"/>
    <p1510:client id="{82363033-AB6D-48E7-7F7F-99C6A8AE2219}" v="3" dt="2026-04-30T14:43:56.972"/>
    <p1510:client id="{90DB3212-2EC9-2B20-A1F2-861943223F8E}" v="287" dt="2026-04-30T18:11:57.231"/>
    <p1510:client id="{BD621032-F849-461D-9EA9-BFDC3F0C9C22}" v="1480" dt="2026-04-30T18:25: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txBody>
            <a:bodyPr/>
            <a:lstStyle/>
            <a:p>
              <a:endParaRPr lang="en-US"/>
            </a:p>
          </p:txBody>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txBody>
            <a:bodyPr/>
            <a:lstStyle/>
            <a:p>
              <a:endParaRPr lang="en-US"/>
            </a:p>
          </p:txBody>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txBody>
            <a:bodyPr/>
            <a:lstStyle/>
            <a:p>
              <a:endParaRPr lang="en-US"/>
            </a:p>
          </p:txBody>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a:endParaRPr lang="en-US"/>
            </a:p>
          </p:txBody>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txBody>
            <a:bodyPr/>
            <a:lstStyle/>
            <a:p>
              <a:endParaRPr lang="en-US"/>
            </a:p>
          </p:txBody>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txBody>
            <a:bodyPr/>
            <a:lstStyle/>
            <a:p>
              <a:endParaRPr lang="en-US"/>
            </a:p>
          </p:txBody>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705C18A-ADD3-4375-A699-9F4488C0E00E}" type="datetimeFigureOut">
              <a:rPr lang="en-US" smtClean="0"/>
              <a:t>5/1/2026</a:t>
            </a:fld>
            <a:endParaRPr lang="en-US"/>
          </a:p>
        </p:txBody>
      </p:sp>
      <p:sp>
        <p:nvSpPr>
          <p:cNvPr id="5" name="Footer Placeholder 4"/>
          <p:cNvSpPr>
            <a:spLocks noGrp="1"/>
          </p:cNvSpPr>
          <p:nvPr>
            <p:ph type="ftr" sz="quarter" idx="11"/>
          </p:nvPr>
        </p:nvSpPr>
        <p:spPr>
          <a:xfrm>
            <a:off x="5332412" y="5883275"/>
            <a:ext cx="4324044" cy="365125"/>
          </a:xfrm>
        </p:spPr>
        <p:txBody>
          <a:bodyPr/>
          <a:lstStyle/>
          <a:p>
            <a:endParaRPr lang="en-US"/>
          </a:p>
        </p:txBody>
      </p:sp>
      <p:sp>
        <p:nvSpPr>
          <p:cNvPr id="6" name="Slide Number Placeholder 5"/>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3049745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705C18A-ADD3-4375-A699-9F4488C0E00E}"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951856" y="5867131"/>
            <a:ext cx="551167" cy="365125"/>
          </a:xfrm>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1980945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705C18A-ADD3-4375-A699-9F4488C0E00E}"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12074351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705C18A-ADD3-4375-A699-9F4488C0E00E}" type="datetimeFigureOut">
              <a:rPr lang="en-US" smtClean="0"/>
              <a:t>5/1/2026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1130195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705C18A-ADD3-4375-A699-9F4488C0E00E}" type="datetimeFigureOut">
              <a:rPr lang="en-US" smtClean="0"/>
              <a:t>5/1/2026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3945113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705C18A-ADD3-4375-A699-9F4488C0E00E}" type="datetimeFigureOut">
              <a:rPr lang="en-US" smtClean="0"/>
              <a:t>5/1/2026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909876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705C18A-ADD3-4375-A699-9F4488C0E00E}" type="datetimeFigureOut">
              <a:rPr lang="en-US" smtClean="0"/>
              <a:t>5/1/2026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42098296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705C18A-ADD3-4375-A699-9F4488C0E00E}" type="datetimeFigureOut">
              <a:rPr lang="en-US" smtClean="0"/>
              <a:t>5/1/2026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35649315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705C18A-ADD3-4375-A699-9F4488C0E00E}" type="datetimeFigureOut">
              <a:rPr lang="en-US" smtClean="0"/>
              <a:t>5/1/2026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36645902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705C18A-ADD3-4375-A699-9F4488C0E00E}" type="datetimeFigureOut">
              <a:rPr lang="en-US" smtClean="0"/>
              <a:t>5/1/2026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34981139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705C18A-ADD3-4375-A699-9F4488C0E00E}"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5856310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705C18A-ADD3-4375-A699-9F4488C0E00E}"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31243864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705C18A-ADD3-4375-A699-9F4488C0E00E}"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39386146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705C18A-ADD3-4375-A699-9F4488C0E00E}"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35807079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705C18A-ADD3-4375-A699-9F4488C0E00E}"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21080363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705C18A-ADD3-4375-A699-9F4488C0E00E}"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38898561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705C18A-ADD3-4375-A699-9F4488C0E00E}" type="datetimeFigureOut">
              <a:rPr lang="en-US" smtClean="0"/>
              <a:t>5/1/2026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2135D0-4141-4185-A76B-8A0D017CF383}" type="slidenum">
              <a:rPr lang="en-US" smtClean="0"/>
              <a:t>‹#›</a:t>
            </a:fld>
            <a:endParaRPr lang="en-US"/>
          </a:p>
        </p:txBody>
      </p:sp>
    </p:spTree>
    <p:extLst>
      <p:ext uri="{BB962C8B-B14F-4D97-AF65-F5344CB8AC3E}">
        <p14:creationId xmlns:p14="http://schemas.microsoft.com/office/powerpoint/2010/main" val="7172636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txBody>
            <a:bodyPr/>
            <a:lstStyle/>
            <a:p>
              <a:endParaRPr lang="en-US"/>
            </a:p>
          </p:txBody>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txBody>
            <a:bodyPr/>
            <a:lstStyle/>
            <a:p>
              <a:endParaRPr lang="en-US"/>
            </a:p>
          </p:txBody>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txBody>
            <a:bodyPr/>
            <a:lstStyle/>
            <a:p>
              <a:endParaRPr lang="en-US"/>
            </a:p>
          </p:txBody>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txBody>
            <a:bodyPr/>
            <a:lstStyle/>
            <a:p>
              <a:endParaRPr lang="en-US"/>
            </a:p>
          </p:txBody>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txBody>
            <a:bodyPr/>
            <a:lstStyle/>
            <a:p>
              <a:endParaRPr lang="en-US"/>
            </a:p>
          </p:txBody>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txBody>
            <a:bodyPr/>
            <a:lstStyle/>
            <a:p>
              <a:endParaRPr lang="en-US"/>
            </a:p>
          </p:txBody>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705C18A-ADD3-4375-A699-9F4488C0E00E}" type="datetimeFigureOut">
              <a:rPr lang="en-US" smtClean="0"/>
              <a:t>5/1/2026</a:t>
            </a:fld>
            <a:endParaRPr lang="en-US"/>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432135D0-4141-4185-A76B-8A0D017CF383}" type="slidenum">
              <a:rPr lang="en-US" smtClean="0"/>
              <a:t>‹#›</a:t>
            </a:fld>
            <a:endParaRPr lang="en-US"/>
          </a:p>
        </p:txBody>
      </p:sp>
    </p:spTree>
    <p:extLst>
      <p:ext uri="{BB962C8B-B14F-4D97-AF65-F5344CB8AC3E}">
        <p14:creationId xmlns:p14="http://schemas.microsoft.com/office/powerpoint/2010/main" val="246267071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www.wireshark.org/" TargetMode="External"/><Relationship Id="rId2" Type="http://schemas.openxmlformats.org/officeDocument/2006/relationships/hyperlink" Target="https://ieeexplore.ieee.org/document/10537766" TargetMode="External"/><Relationship Id="rId1" Type="http://schemas.openxmlformats.org/officeDocument/2006/relationships/slideLayout" Target="../slideLayouts/slideLayout2.xml"/><Relationship Id="rId5" Type="http://schemas.openxmlformats.org/officeDocument/2006/relationships/hyperlink" Target="https://scikit-learn.org/stable/modules/generated/sklearn.ensemble.RandomForestClassifier.html" TargetMode="External"/><Relationship Id="rId4" Type="http://schemas.openxmlformats.org/officeDocument/2006/relationships/hyperlink" Target="https://www.jstor.org/stable/45278427?sid=primo&amp;seq=1"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4EDD6-8E4E-F029-E0D1-F62780D007F4}"/>
              </a:ext>
            </a:extLst>
          </p:cNvPr>
          <p:cNvSpPr>
            <a:spLocks noGrp="1"/>
          </p:cNvSpPr>
          <p:nvPr>
            <p:ph type="ctrTitle"/>
          </p:nvPr>
        </p:nvSpPr>
        <p:spPr/>
        <p:txBody>
          <a:bodyPr/>
          <a:lstStyle/>
          <a:p>
            <a:r>
              <a:rPr lang="en-US"/>
              <a:t>Coll 400 Presentation</a:t>
            </a:r>
          </a:p>
        </p:txBody>
      </p:sp>
      <p:sp>
        <p:nvSpPr>
          <p:cNvPr id="3" name="Subtitle 2">
            <a:extLst>
              <a:ext uri="{FF2B5EF4-FFF2-40B4-BE49-F238E27FC236}">
                <a16:creationId xmlns:a16="http://schemas.microsoft.com/office/drawing/2014/main" id="{55FE66D0-F371-11E4-D240-DCC241A3323A}"/>
              </a:ext>
            </a:extLst>
          </p:cNvPr>
          <p:cNvSpPr>
            <a:spLocks noGrp="1"/>
          </p:cNvSpPr>
          <p:nvPr>
            <p:ph type="subTitle" idx="1"/>
          </p:nvPr>
        </p:nvSpPr>
        <p:spPr/>
        <p:txBody>
          <a:bodyPr/>
          <a:lstStyle/>
          <a:p>
            <a:r>
              <a:rPr lang="en-US"/>
              <a:t>Adam Chisholm</a:t>
            </a:r>
            <a:br>
              <a:rPr lang="en-US"/>
            </a:br>
            <a:r>
              <a:rPr lang="en-US"/>
              <a:t>Conner Wright</a:t>
            </a:r>
            <a:br>
              <a:rPr lang="en-US"/>
            </a:br>
            <a:r>
              <a:rPr lang="en-US"/>
              <a:t>Elijah Gilliam</a:t>
            </a:r>
            <a:br>
              <a:rPr lang="en-US"/>
            </a:br>
            <a:r>
              <a:rPr lang="en-US"/>
              <a:t>Zachary Klein</a:t>
            </a:r>
          </a:p>
        </p:txBody>
      </p:sp>
    </p:spTree>
    <p:extLst>
      <p:ext uri="{BB962C8B-B14F-4D97-AF65-F5344CB8AC3E}">
        <p14:creationId xmlns:p14="http://schemas.microsoft.com/office/powerpoint/2010/main" val="20514503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B4100-292A-F4E2-C703-7C9CAF76C32F}"/>
              </a:ext>
            </a:extLst>
          </p:cNvPr>
          <p:cNvSpPr>
            <a:spLocks noGrp="1"/>
          </p:cNvSpPr>
          <p:nvPr>
            <p:ph type="title"/>
          </p:nvPr>
        </p:nvSpPr>
        <p:spPr>
          <a:xfrm>
            <a:off x="1484311" y="311484"/>
            <a:ext cx="10018713" cy="1191126"/>
          </a:xfrm>
        </p:spPr>
        <p:txBody>
          <a:bodyPr/>
          <a:lstStyle/>
          <a:p>
            <a:r>
              <a:rPr lang="en-US"/>
              <a:t>Abstract</a:t>
            </a:r>
          </a:p>
        </p:txBody>
      </p:sp>
      <p:sp>
        <p:nvSpPr>
          <p:cNvPr id="3" name="Content Placeholder 2">
            <a:extLst>
              <a:ext uri="{FF2B5EF4-FFF2-40B4-BE49-F238E27FC236}">
                <a16:creationId xmlns:a16="http://schemas.microsoft.com/office/drawing/2014/main" id="{05447B11-FC7B-43BA-D5CC-B6ABB706891D}"/>
              </a:ext>
            </a:extLst>
          </p:cNvPr>
          <p:cNvSpPr>
            <a:spLocks noGrp="1"/>
          </p:cNvSpPr>
          <p:nvPr>
            <p:ph idx="1"/>
          </p:nvPr>
        </p:nvSpPr>
        <p:spPr>
          <a:xfrm>
            <a:off x="1484310" y="1467760"/>
            <a:ext cx="10018713" cy="5006612"/>
          </a:xfrm>
        </p:spPr>
        <p:txBody>
          <a:bodyPr/>
          <a:lstStyle/>
          <a:p>
            <a:pPr marL="0" indent="0">
              <a:lnSpc>
                <a:spcPct val="150000"/>
              </a:lnSpc>
              <a:spcBef>
                <a:spcPts val="1400"/>
              </a:spcBef>
              <a:buNone/>
            </a:pPr>
            <a:r>
              <a:rPr lang="en-US"/>
              <a:t>This project addresses the problem of classifying network traffic by its website of origin. The goal of this classification is to improve providers' ability to manage their networks based on users' activity. The traffic records we analyzed come from five websites – </a:t>
            </a:r>
            <a:r>
              <a:rPr lang="en-US" err="1"/>
              <a:t>Backloggd</a:t>
            </a:r>
            <a:r>
              <a:rPr lang="en-US"/>
              <a:t>, </a:t>
            </a:r>
            <a:r>
              <a:rPr lang="en-US" err="1"/>
              <a:t>Github</a:t>
            </a:r>
            <a:r>
              <a:rPr lang="en-US"/>
              <a:t>, Letterboxd, Reddit, and weather.com -  and, based on nine characteristics, classified the records with the Linear Regression, Logistic Regression, and Random Forest models. </a:t>
            </a:r>
          </a:p>
        </p:txBody>
      </p:sp>
    </p:spTree>
    <p:extLst>
      <p:ext uri="{BB962C8B-B14F-4D97-AF65-F5344CB8AC3E}">
        <p14:creationId xmlns:p14="http://schemas.microsoft.com/office/powerpoint/2010/main" val="22777897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35B5C-8D87-01B5-DACF-860108CACD8D}"/>
              </a:ext>
            </a:extLst>
          </p:cNvPr>
          <p:cNvSpPr>
            <a:spLocks noGrp="1"/>
          </p:cNvSpPr>
          <p:nvPr>
            <p:ph type="title"/>
          </p:nvPr>
        </p:nvSpPr>
        <p:spPr/>
        <p:txBody>
          <a:bodyPr/>
          <a:lstStyle/>
          <a:p>
            <a:r>
              <a:rPr lang="en-US"/>
              <a:t>Introduction</a:t>
            </a:r>
          </a:p>
        </p:txBody>
      </p:sp>
      <p:sp>
        <p:nvSpPr>
          <p:cNvPr id="3" name="Content Placeholder 2">
            <a:extLst>
              <a:ext uri="{FF2B5EF4-FFF2-40B4-BE49-F238E27FC236}">
                <a16:creationId xmlns:a16="http://schemas.microsoft.com/office/drawing/2014/main" id="{9B14594A-382C-DB1C-EF2F-97329C0BFE8A}"/>
              </a:ext>
            </a:extLst>
          </p:cNvPr>
          <p:cNvSpPr>
            <a:spLocks noGrp="1"/>
          </p:cNvSpPr>
          <p:nvPr>
            <p:ph idx="1"/>
          </p:nvPr>
        </p:nvSpPr>
        <p:spPr/>
        <p:txBody>
          <a:bodyPr vert="horz" lIns="91440" tIns="45720" rIns="91440" bIns="45720" rtlCol="0" anchor="t">
            <a:normAutofit fontScale="85000" lnSpcReduction="10000"/>
          </a:bodyPr>
          <a:lstStyle/>
          <a:p>
            <a:r>
              <a:rPr lang="en-US">
                <a:ea typeface="+mn-lt"/>
                <a:cs typeface="+mn-lt"/>
              </a:rPr>
              <a:t>Dataset of traffic records from GitHub, </a:t>
            </a:r>
            <a:r>
              <a:rPr lang="en-US" err="1">
                <a:ea typeface="+mn-lt"/>
                <a:cs typeface="+mn-lt"/>
              </a:rPr>
              <a:t>LetterBoxd</a:t>
            </a:r>
            <a:r>
              <a:rPr lang="en-US">
                <a:ea typeface="+mn-lt"/>
                <a:cs typeface="+mn-lt"/>
              </a:rPr>
              <a:t>, </a:t>
            </a:r>
            <a:r>
              <a:rPr lang="en-US" err="1">
                <a:ea typeface="+mn-lt"/>
                <a:cs typeface="+mn-lt"/>
              </a:rPr>
              <a:t>Backloggd</a:t>
            </a:r>
            <a:r>
              <a:rPr lang="en-US">
                <a:ea typeface="+mn-lt"/>
                <a:cs typeface="+mn-lt"/>
              </a:rPr>
              <a:t>, Reddit, and Weather.</a:t>
            </a:r>
          </a:p>
          <a:p>
            <a:r>
              <a:rPr lang="en-US">
                <a:ea typeface="+mn-lt"/>
                <a:cs typeface="+mn-lt"/>
              </a:rPr>
              <a:t>Dataset was split into training, and test sets</a:t>
            </a:r>
          </a:p>
          <a:p>
            <a:r>
              <a:rPr lang="en-US"/>
              <a:t>3 models used for classification</a:t>
            </a:r>
          </a:p>
          <a:p>
            <a:pPr lvl="1">
              <a:buFont typeface="Courier New" panose="020B0604020202020204" pitchFamily="34" charset="0"/>
              <a:buChar char="o"/>
            </a:pPr>
            <a:r>
              <a:rPr lang="en-US"/>
              <a:t>Linear Regression</a:t>
            </a:r>
          </a:p>
          <a:p>
            <a:pPr lvl="1">
              <a:buFont typeface="Courier New" panose="020B0604020202020204" pitchFamily="34" charset="0"/>
              <a:buChar char="o"/>
            </a:pPr>
            <a:r>
              <a:rPr lang="en-US"/>
              <a:t>Logistic Regression</a:t>
            </a:r>
          </a:p>
          <a:p>
            <a:pPr lvl="1">
              <a:buFont typeface="Courier New" panose="020B0604020202020204" pitchFamily="34" charset="0"/>
              <a:buChar char="o"/>
            </a:pPr>
            <a:r>
              <a:rPr lang="en-US"/>
              <a:t>Random Forest</a:t>
            </a:r>
          </a:p>
          <a:p>
            <a:r>
              <a:rPr lang="en-US"/>
              <a:t>Random Forest</a:t>
            </a:r>
            <a:r>
              <a:rPr lang="en-US" b="1"/>
              <a:t> </a:t>
            </a:r>
            <a:r>
              <a:rPr lang="en-US"/>
              <a:t>achieved the highest accuracy and Macro F1 score</a:t>
            </a:r>
          </a:p>
          <a:p>
            <a:pPr marL="457200" lvl="1" indent="0">
              <a:buNone/>
            </a:pPr>
            <a:r>
              <a:rPr lang="en-US"/>
              <a:t> </a:t>
            </a:r>
          </a:p>
        </p:txBody>
      </p:sp>
    </p:spTree>
    <p:extLst>
      <p:ext uri="{BB962C8B-B14F-4D97-AF65-F5344CB8AC3E}">
        <p14:creationId xmlns:p14="http://schemas.microsoft.com/office/powerpoint/2010/main" val="10261544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56E56-CF5F-EE2E-4C86-011D39759E8A}"/>
              </a:ext>
            </a:extLst>
          </p:cNvPr>
          <p:cNvSpPr>
            <a:spLocks noGrp="1"/>
          </p:cNvSpPr>
          <p:nvPr>
            <p:ph type="title"/>
          </p:nvPr>
        </p:nvSpPr>
        <p:spPr/>
        <p:txBody>
          <a:bodyPr/>
          <a:lstStyle/>
          <a:p>
            <a:r>
              <a:rPr lang="en-US"/>
              <a:t>Data Preparation</a:t>
            </a:r>
          </a:p>
        </p:txBody>
      </p:sp>
      <p:sp>
        <p:nvSpPr>
          <p:cNvPr id="3" name="Content Placeholder 2">
            <a:extLst>
              <a:ext uri="{FF2B5EF4-FFF2-40B4-BE49-F238E27FC236}">
                <a16:creationId xmlns:a16="http://schemas.microsoft.com/office/drawing/2014/main" id="{A4484CC7-82B7-64FB-2F61-97A4DA91082F}"/>
              </a:ext>
            </a:extLst>
          </p:cNvPr>
          <p:cNvSpPr>
            <a:spLocks noGrp="1"/>
          </p:cNvSpPr>
          <p:nvPr>
            <p:ph idx="1"/>
          </p:nvPr>
        </p:nvSpPr>
        <p:spPr/>
        <p:txBody>
          <a:bodyPr vert="horz" lIns="91440" tIns="45720" rIns="91440" bIns="45720" rtlCol="0" anchor="t">
            <a:normAutofit fontScale="77500" lnSpcReduction="20000"/>
          </a:bodyPr>
          <a:lstStyle/>
          <a:p>
            <a:r>
              <a:rPr lang="en-US"/>
              <a:t>Wireshark</a:t>
            </a:r>
          </a:p>
          <a:p>
            <a:pPr lvl="1">
              <a:buFont typeface="Courier New" panose="020B0604020202020204" pitchFamily="34" charset="0"/>
              <a:buChar char="o"/>
            </a:pPr>
            <a:r>
              <a:rPr lang="en-US">
                <a:ea typeface="+mn-lt"/>
                <a:cs typeface="+mn-lt"/>
              </a:rPr>
              <a:t>network protocol analyzer</a:t>
            </a:r>
          </a:p>
          <a:p>
            <a:pPr lvl="1">
              <a:buFont typeface="Courier New" panose="020B0604020202020204" pitchFamily="34" charset="0"/>
              <a:buChar char="o"/>
            </a:pPr>
            <a:r>
              <a:rPr lang="en-US">
                <a:ea typeface="+mn-lt"/>
                <a:cs typeface="+mn-lt"/>
              </a:rPr>
              <a:t>configuring filters to capture traffic from specific web sites</a:t>
            </a:r>
          </a:p>
          <a:p>
            <a:r>
              <a:rPr lang="en-US"/>
              <a:t>Features Collected</a:t>
            </a:r>
          </a:p>
          <a:p>
            <a:pPr lvl="1">
              <a:buFont typeface="Courier New" panose="020B0604020202020204" pitchFamily="34" charset="0"/>
              <a:buChar char="o"/>
            </a:pPr>
            <a:r>
              <a:rPr lang="en-US"/>
              <a:t>Packet Count</a:t>
            </a:r>
          </a:p>
          <a:p>
            <a:pPr lvl="1">
              <a:buFont typeface="Courier New" panose="020B0604020202020204" pitchFamily="34" charset="0"/>
              <a:buChar char="o"/>
            </a:pPr>
            <a:r>
              <a:rPr lang="en-US"/>
              <a:t>Total Length</a:t>
            </a:r>
          </a:p>
          <a:p>
            <a:pPr lvl="1">
              <a:buFont typeface="Courier New" panose="020B0604020202020204" pitchFamily="34" charset="0"/>
              <a:buChar char="o"/>
            </a:pPr>
            <a:r>
              <a:rPr lang="en-US"/>
              <a:t>Average Packet Interval</a:t>
            </a:r>
          </a:p>
          <a:p>
            <a:pPr lvl="1">
              <a:buFont typeface="Courier New" panose="020B0604020202020204" pitchFamily="34" charset="0"/>
              <a:buChar char="o"/>
            </a:pPr>
            <a:r>
              <a:rPr lang="en-US"/>
              <a:t>Maximum Packet Interval</a:t>
            </a:r>
          </a:p>
          <a:p>
            <a:pPr lvl="1">
              <a:buFont typeface="Courier New" panose="020B0604020202020204" pitchFamily="34" charset="0"/>
              <a:buChar char="o"/>
            </a:pPr>
            <a:r>
              <a:rPr lang="en-US"/>
              <a:t>Minimum Packet Interval</a:t>
            </a:r>
          </a:p>
          <a:p>
            <a:pPr marL="457200" lvl="1" indent="0">
              <a:buNone/>
            </a:pPr>
            <a:endParaRPr lang="en-US"/>
          </a:p>
        </p:txBody>
      </p:sp>
      <p:sp>
        <p:nvSpPr>
          <p:cNvPr id="4" name="TextBox 3">
            <a:extLst>
              <a:ext uri="{FF2B5EF4-FFF2-40B4-BE49-F238E27FC236}">
                <a16:creationId xmlns:a16="http://schemas.microsoft.com/office/drawing/2014/main" id="{84309009-C055-ED4E-E14F-3879B8075781}"/>
              </a:ext>
            </a:extLst>
          </p:cNvPr>
          <p:cNvSpPr txBox="1"/>
          <p:nvPr/>
        </p:nvSpPr>
        <p:spPr>
          <a:xfrm>
            <a:off x="4341942" y="3882420"/>
            <a:ext cx="6585138" cy="1531445"/>
          </a:xfrm>
          <a:prstGeom prst="rect">
            <a:avLst/>
          </a:prstGeom>
          <a:noFill/>
        </p:spPr>
        <p:txBody>
          <a:bodyPr wrap="square" rtlCol="0">
            <a:spAutoFit/>
          </a:bodyPr>
          <a:lstStyle/>
          <a:p>
            <a:pPr marL="742950" lvl="1" indent="-285750">
              <a:lnSpc>
                <a:spcPct val="150000"/>
              </a:lnSpc>
              <a:buClr>
                <a:schemeClr val="accent1"/>
              </a:buClr>
              <a:buSzPct val="145000"/>
              <a:buFont typeface="Courier New" panose="02070309020205020404" pitchFamily="49" charset="0"/>
              <a:buChar char="o"/>
            </a:pPr>
            <a:r>
              <a:rPr lang="en-US" sz="1600"/>
              <a:t>Average Packet length</a:t>
            </a:r>
          </a:p>
          <a:p>
            <a:pPr marL="742950" lvl="1" indent="-285750">
              <a:lnSpc>
                <a:spcPct val="150000"/>
              </a:lnSpc>
              <a:buClr>
                <a:schemeClr val="accent1"/>
              </a:buClr>
              <a:buSzPct val="145000"/>
              <a:buFont typeface="Courier New" panose="02070309020205020404" pitchFamily="49" charset="0"/>
              <a:buChar char="o"/>
            </a:pPr>
            <a:r>
              <a:rPr lang="en-US" sz="1600"/>
              <a:t>Maximum Packet Length</a:t>
            </a:r>
          </a:p>
          <a:p>
            <a:pPr marL="742950" lvl="1" indent="-285750">
              <a:lnSpc>
                <a:spcPct val="150000"/>
              </a:lnSpc>
              <a:buClr>
                <a:schemeClr val="accent1"/>
              </a:buClr>
              <a:buSzPct val="145000"/>
              <a:buFont typeface="Courier New" panose="02070309020205020404" pitchFamily="49" charset="0"/>
              <a:buChar char="o"/>
            </a:pPr>
            <a:r>
              <a:rPr lang="en-US" sz="1600"/>
              <a:t>Minimum Packet Length</a:t>
            </a:r>
          </a:p>
          <a:p>
            <a:pPr marL="742950" lvl="1" indent="-285750">
              <a:lnSpc>
                <a:spcPct val="150000"/>
              </a:lnSpc>
              <a:buClr>
                <a:schemeClr val="accent1"/>
              </a:buClr>
              <a:buSzPct val="145000"/>
              <a:buFont typeface="Courier New" panose="02070309020205020404" pitchFamily="49" charset="0"/>
              <a:buChar char="o"/>
            </a:pPr>
            <a:r>
              <a:rPr lang="en-US" sz="1600"/>
              <a:t>Most Common Packet Length</a:t>
            </a:r>
          </a:p>
        </p:txBody>
      </p:sp>
    </p:spTree>
    <p:extLst>
      <p:ext uri="{BB962C8B-B14F-4D97-AF65-F5344CB8AC3E}">
        <p14:creationId xmlns:p14="http://schemas.microsoft.com/office/powerpoint/2010/main" val="32006564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2865A-0433-502A-5F11-A6E3B8B8A608}"/>
              </a:ext>
            </a:extLst>
          </p:cNvPr>
          <p:cNvSpPr>
            <a:spLocks noGrp="1"/>
          </p:cNvSpPr>
          <p:nvPr>
            <p:ph type="title"/>
          </p:nvPr>
        </p:nvSpPr>
        <p:spPr/>
        <p:txBody>
          <a:bodyPr/>
          <a:lstStyle/>
          <a:p>
            <a:r>
              <a:rPr lang="en-US"/>
              <a:t>Employed Method</a:t>
            </a:r>
          </a:p>
        </p:txBody>
      </p:sp>
      <p:sp>
        <p:nvSpPr>
          <p:cNvPr id="3" name="Content Placeholder 2">
            <a:extLst>
              <a:ext uri="{FF2B5EF4-FFF2-40B4-BE49-F238E27FC236}">
                <a16:creationId xmlns:a16="http://schemas.microsoft.com/office/drawing/2014/main" id="{294EF941-DA16-8606-2248-65B029B768FD}"/>
              </a:ext>
            </a:extLst>
          </p:cNvPr>
          <p:cNvSpPr>
            <a:spLocks noGrp="1"/>
          </p:cNvSpPr>
          <p:nvPr>
            <p:ph idx="1"/>
          </p:nvPr>
        </p:nvSpPr>
        <p:spPr/>
        <p:txBody>
          <a:bodyPr>
            <a:normAutofit fontScale="92500" lnSpcReduction="10000"/>
          </a:bodyPr>
          <a:lstStyle/>
          <a:p>
            <a:r>
              <a:rPr lang="en-US"/>
              <a:t>Random Forest</a:t>
            </a:r>
          </a:p>
          <a:p>
            <a:r>
              <a:rPr lang="en-US"/>
              <a:t>Constructs multiple decision trees during the training phase then aggregates their outputs to make a final decision.</a:t>
            </a:r>
          </a:p>
          <a:p>
            <a:pPr lvl="1"/>
            <a:r>
              <a:rPr lang="en-US"/>
              <a:t>Process:</a:t>
            </a:r>
          </a:p>
          <a:p>
            <a:pPr lvl="2"/>
            <a:r>
              <a:rPr lang="en-US"/>
              <a:t>Building the Forest</a:t>
            </a:r>
          </a:p>
          <a:p>
            <a:pPr lvl="2"/>
            <a:r>
              <a:rPr lang="en-US"/>
              <a:t>Voting Mechanism</a:t>
            </a:r>
          </a:p>
          <a:p>
            <a:pPr lvl="2"/>
            <a:r>
              <a:rPr lang="en-US"/>
              <a:t>Robustness and Stability</a:t>
            </a:r>
          </a:p>
          <a:p>
            <a:pPr lvl="3"/>
            <a:r>
              <a:rPr lang="en-US"/>
              <a:t>Resistant to overfitting</a:t>
            </a:r>
          </a:p>
          <a:p>
            <a:pPr lvl="1"/>
            <a:endParaRPr lang="en-US"/>
          </a:p>
        </p:txBody>
      </p:sp>
      <p:sp>
        <p:nvSpPr>
          <p:cNvPr id="4" name="TextBox 3">
            <a:extLst>
              <a:ext uri="{FF2B5EF4-FFF2-40B4-BE49-F238E27FC236}">
                <a16:creationId xmlns:a16="http://schemas.microsoft.com/office/drawing/2014/main" id="{E67D3F2F-262B-AC30-9846-4FA15A634B56}"/>
              </a:ext>
            </a:extLst>
          </p:cNvPr>
          <p:cNvSpPr txBox="1"/>
          <p:nvPr/>
        </p:nvSpPr>
        <p:spPr>
          <a:xfrm>
            <a:off x="5749954" y="3802320"/>
            <a:ext cx="4559727" cy="2954655"/>
          </a:xfrm>
          <a:prstGeom prst="rect">
            <a:avLst/>
          </a:prstGeom>
          <a:noFill/>
        </p:spPr>
        <p:txBody>
          <a:bodyPr wrap="square" rtlCol="0">
            <a:spAutoFit/>
          </a:bodyPr>
          <a:lstStyle/>
          <a:p>
            <a:pPr marL="342900" indent="-342900">
              <a:buClr>
                <a:schemeClr val="accent1">
                  <a:lumMod val="75000"/>
                </a:schemeClr>
              </a:buClr>
              <a:buSzPct val="145000"/>
              <a:buFont typeface="Arial" panose="020B0604020202020204" pitchFamily="34" charset="0"/>
              <a:buChar char="•"/>
            </a:pPr>
            <a:r>
              <a:rPr lang="en-US" sz="1900"/>
              <a:t>Benefits:</a:t>
            </a:r>
          </a:p>
          <a:p>
            <a:pPr marL="800100" lvl="1" indent="-342900">
              <a:lnSpc>
                <a:spcPct val="150000"/>
              </a:lnSpc>
              <a:buClr>
                <a:schemeClr val="accent1">
                  <a:lumMod val="75000"/>
                </a:schemeClr>
              </a:buClr>
              <a:buSzPct val="145000"/>
              <a:buFont typeface="Arial" panose="020B0604020202020204" pitchFamily="34" charset="0"/>
              <a:buChar char="•"/>
            </a:pPr>
            <a:r>
              <a:rPr lang="en-US" sz="1700"/>
              <a:t>Handling Complex Features</a:t>
            </a:r>
          </a:p>
          <a:p>
            <a:pPr marL="1257300" lvl="2" indent="-342900">
              <a:lnSpc>
                <a:spcPct val="150000"/>
              </a:lnSpc>
              <a:buClr>
                <a:schemeClr val="accent1">
                  <a:lumMod val="75000"/>
                </a:schemeClr>
              </a:buClr>
              <a:buSzPct val="145000"/>
              <a:buFont typeface="Arial" panose="020B0604020202020204" pitchFamily="34" charset="0"/>
              <a:buChar char="•"/>
            </a:pPr>
            <a:r>
              <a:rPr lang="en-US" sz="1500"/>
              <a:t>Protocols and Packet Length</a:t>
            </a:r>
          </a:p>
          <a:p>
            <a:pPr marL="800100" lvl="1" indent="-342900">
              <a:lnSpc>
                <a:spcPct val="150000"/>
              </a:lnSpc>
              <a:buClr>
                <a:schemeClr val="accent1">
                  <a:lumMod val="75000"/>
                </a:schemeClr>
              </a:buClr>
              <a:buSzPct val="145000"/>
              <a:buFont typeface="Arial" panose="020B0604020202020204" pitchFamily="34" charset="0"/>
              <a:buChar char="•"/>
            </a:pPr>
            <a:r>
              <a:rPr lang="en-US" sz="1700"/>
              <a:t>Generalization</a:t>
            </a:r>
          </a:p>
          <a:p>
            <a:pPr marL="1257300" lvl="2" indent="-342900">
              <a:lnSpc>
                <a:spcPct val="150000"/>
              </a:lnSpc>
              <a:buClr>
                <a:schemeClr val="accent1">
                  <a:lumMod val="75000"/>
                </a:schemeClr>
              </a:buClr>
              <a:buSzPct val="145000"/>
              <a:buFont typeface="Arial" panose="020B0604020202020204" pitchFamily="34" charset="0"/>
              <a:buChar char="•"/>
            </a:pPr>
            <a:r>
              <a:rPr lang="en-US" sz="1500"/>
              <a:t>Variation in traffic patterns</a:t>
            </a:r>
          </a:p>
          <a:p>
            <a:pPr marL="800100" lvl="1" indent="-342900">
              <a:lnSpc>
                <a:spcPct val="150000"/>
              </a:lnSpc>
              <a:buClr>
                <a:schemeClr val="accent1">
                  <a:lumMod val="75000"/>
                </a:schemeClr>
              </a:buClr>
              <a:buSzPct val="145000"/>
              <a:buFont typeface="Arial" panose="020B0604020202020204" pitchFamily="34" charset="0"/>
              <a:buChar char="•"/>
            </a:pPr>
            <a:r>
              <a:rPr lang="en-US" sz="1700"/>
              <a:t>Interpretability</a:t>
            </a:r>
          </a:p>
          <a:p>
            <a:pPr marL="800100" lvl="1" indent="-342900">
              <a:lnSpc>
                <a:spcPct val="150000"/>
              </a:lnSpc>
              <a:buClr>
                <a:schemeClr val="accent1">
                  <a:lumMod val="75000"/>
                </a:schemeClr>
              </a:buClr>
              <a:buSzPct val="145000"/>
              <a:buFont typeface="Arial" panose="020B0604020202020204" pitchFamily="34" charset="0"/>
              <a:buChar char="•"/>
            </a:pPr>
            <a:r>
              <a:rPr lang="en-US" sz="1700"/>
              <a:t>Scalability</a:t>
            </a:r>
          </a:p>
          <a:p>
            <a:pPr marL="800100" lvl="1" indent="-342900">
              <a:buClr>
                <a:schemeClr val="accent1">
                  <a:lumMod val="75000"/>
                </a:schemeClr>
              </a:buClr>
              <a:buSzPct val="145000"/>
              <a:buFont typeface="Arial" panose="020B0604020202020204" pitchFamily="34" charset="0"/>
              <a:buChar char="•"/>
            </a:pPr>
            <a:endParaRPr lang="en-US" sz="2000"/>
          </a:p>
        </p:txBody>
      </p:sp>
    </p:spTree>
    <p:extLst>
      <p:ext uri="{BB962C8B-B14F-4D97-AF65-F5344CB8AC3E}">
        <p14:creationId xmlns:p14="http://schemas.microsoft.com/office/powerpoint/2010/main" val="34992798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AD1C1-8E9C-DD17-57F2-99864BEA7C67}"/>
              </a:ext>
            </a:extLst>
          </p:cNvPr>
          <p:cNvSpPr>
            <a:spLocks noGrp="1"/>
          </p:cNvSpPr>
          <p:nvPr>
            <p:ph type="title"/>
          </p:nvPr>
        </p:nvSpPr>
        <p:spPr/>
        <p:txBody>
          <a:bodyPr/>
          <a:lstStyle/>
          <a:p>
            <a:r>
              <a:rPr lang="en-US"/>
              <a:t>Employed Method</a:t>
            </a:r>
          </a:p>
        </p:txBody>
      </p:sp>
      <p:sp>
        <p:nvSpPr>
          <p:cNvPr id="3" name="Content Placeholder 2">
            <a:extLst>
              <a:ext uri="{FF2B5EF4-FFF2-40B4-BE49-F238E27FC236}">
                <a16:creationId xmlns:a16="http://schemas.microsoft.com/office/drawing/2014/main" id="{8FFDAC13-B76C-1C81-84CF-D39D3CB14F4F}"/>
              </a:ext>
            </a:extLst>
          </p:cNvPr>
          <p:cNvSpPr>
            <a:spLocks noGrp="1"/>
          </p:cNvSpPr>
          <p:nvPr>
            <p:ph idx="1"/>
          </p:nvPr>
        </p:nvSpPr>
        <p:spPr/>
        <p:txBody>
          <a:bodyPr/>
          <a:lstStyle/>
          <a:p>
            <a:r>
              <a:rPr lang="en-US"/>
              <a:t>Compared two Baselines</a:t>
            </a:r>
          </a:p>
          <a:p>
            <a:pPr lvl="1"/>
            <a:r>
              <a:rPr lang="en-US"/>
              <a:t>Linear Regression</a:t>
            </a:r>
          </a:p>
          <a:p>
            <a:pPr lvl="1"/>
            <a:r>
              <a:rPr lang="en-US"/>
              <a:t>Logistic Regression</a:t>
            </a:r>
          </a:p>
        </p:txBody>
      </p:sp>
    </p:spTree>
    <p:extLst>
      <p:ext uri="{BB962C8B-B14F-4D97-AF65-F5344CB8AC3E}">
        <p14:creationId xmlns:p14="http://schemas.microsoft.com/office/powerpoint/2010/main" val="34383068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CF608-2CA3-5142-E05E-942C76D6394A}"/>
              </a:ext>
            </a:extLst>
          </p:cNvPr>
          <p:cNvSpPr>
            <a:spLocks noGrp="1"/>
          </p:cNvSpPr>
          <p:nvPr>
            <p:ph type="title"/>
          </p:nvPr>
        </p:nvSpPr>
        <p:spPr>
          <a:xfrm>
            <a:off x="1179511" y="9144"/>
            <a:ext cx="10018713" cy="1752599"/>
          </a:xfrm>
        </p:spPr>
        <p:txBody>
          <a:bodyPr/>
          <a:lstStyle/>
          <a:p>
            <a:r>
              <a:rPr lang="en-US"/>
              <a:t>Dataset</a:t>
            </a:r>
          </a:p>
        </p:txBody>
      </p:sp>
      <p:sp>
        <p:nvSpPr>
          <p:cNvPr id="3" name="Content Placeholder 2">
            <a:extLst>
              <a:ext uri="{FF2B5EF4-FFF2-40B4-BE49-F238E27FC236}">
                <a16:creationId xmlns:a16="http://schemas.microsoft.com/office/drawing/2014/main" id="{2C0F809A-20D9-1C89-DFD4-A17B19BE18A1}"/>
              </a:ext>
            </a:extLst>
          </p:cNvPr>
          <p:cNvSpPr>
            <a:spLocks noGrp="1"/>
          </p:cNvSpPr>
          <p:nvPr>
            <p:ph idx="1"/>
          </p:nvPr>
        </p:nvSpPr>
        <p:spPr>
          <a:xfrm>
            <a:off x="1496503" y="2008631"/>
            <a:ext cx="3572506" cy="3124201"/>
          </a:xfrm>
        </p:spPr>
        <p:txBody>
          <a:bodyPr/>
          <a:lstStyle/>
          <a:p>
            <a:pPr>
              <a:buClr>
                <a:srgbClr val="30ACEC">
                  <a:lumMod val="75000"/>
                </a:srgbClr>
              </a:buClr>
            </a:pPr>
            <a:r>
              <a:rPr lang="en-US"/>
              <a:t>The training and test sets were split with a ratio of </a:t>
            </a:r>
            <a:r>
              <a:rPr lang="en-US" b="1"/>
              <a:t>50:50 </a:t>
            </a:r>
            <a:r>
              <a:rPr lang="en-US"/>
              <a:t> </a:t>
            </a:r>
          </a:p>
          <a:p>
            <a:pPr>
              <a:buClr>
                <a:srgbClr val="1287C3"/>
              </a:buClr>
            </a:pPr>
            <a:r>
              <a:rPr lang="en-US">
                <a:solidFill>
                  <a:srgbClr val="000000"/>
                </a:solidFill>
              </a:rPr>
              <a:t>10 captures for each label/website</a:t>
            </a:r>
          </a:p>
        </p:txBody>
      </p:sp>
      <p:pic>
        <p:nvPicPr>
          <p:cNvPr id="5" name="Picture 4" descr="A table of numbers and lines&#10;&#10;AI-generated content may be incorrect.">
            <a:extLst>
              <a:ext uri="{FF2B5EF4-FFF2-40B4-BE49-F238E27FC236}">
                <a16:creationId xmlns:a16="http://schemas.microsoft.com/office/drawing/2014/main" id="{FE734E51-B36D-6B7D-FA99-0588314BE74B}"/>
              </a:ext>
            </a:extLst>
          </p:cNvPr>
          <p:cNvPicPr>
            <a:picLocks noChangeAspect="1"/>
          </p:cNvPicPr>
          <p:nvPr/>
        </p:nvPicPr>
        <p:blipFill>
          <a:blip r:embed="rId2"/>
          <a:stretch>
            <a:fillRect/>
          </a:stretch>
        </p:blipFill>
        <p:spPr>
          <a:xfrm>
            <a:off x="5217540" y="1603248"/>
            <a:ext cx="6420359" cy="4669536"/>
          </a:xfrm>
          <a:prstGeom prst="rect">
            <a:avLst/>
          </a:prstGeom>
        </p:spPr>
      </p:pic>
    </p:spTree>
    <p:extLst>
      <p:ext uri="{BB962C8B-B14F-4D97-AF65-F5344CB8AC3E}">
        <p14:creationId xmlns:p14="http://schemas.microsoft.com/office/powerpoint/2010/main" val="818039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5C3C6-C5CA-CB41-FE8A-706179C21A89}"/>
              </a:ext>
            </a:extLst>
          </p:cNvPr>
          <p:cNvSpPr>
            <a:spLocks noGrp="1"/>
          </p:cNvSpPr>
          <p:nvPr>
            <p:ph type="title"/>
          </p:nvPr>
        </p:nvSpPr>
        <p:spPr/>
        <p:txBody>
          <a:bodyPr/>
          <a:lstStyle/>
          <a:p>
            <a:r>
              <a:rPr lang="en-US"/>
              <a:t>Evaluation Metrics</a:t>
            </a:r>
          </a:p>
        </p:txBody>
      </p:sp>
      <p:sp>
        <p:nvSpPr>
          <p:cNvPr id="3" name="Content Placeholder 2">
            <a:extLst>
              <a:ext uri="{FF2B5EF4-FFF2-40B4-BE49-F238E27FC236}">
                <a16:creationId xmlns:a16="http://schemas.microsoft.com/office/drawing/2014/main" id="{6FDF66EC-97AF-BB01-6DE3-73033D1C439D}"/>
              </a:ext>
            </a:extLst>
          </p:cNvPr>
          <p:cNvSpPr>
            <a:spLocks noGrp="1"/>
          </p:cNvSpPr>
          <p:nvPr>
            <p:ph idx="1"/>
          </p:nvPr>
        </p:nvSpPr>
        <p:spPr/>
        <p:txBody>
          <a:bodyPr/>
          <a:lstStyle/>
          <a:p>
            <a:r>
              <a:rPr lang="en-US"/>
              <a:t>Primary Metrics	</a:t>
            </a:r>
          </a:p>
          <a:p>
            <a:pPr lvl="1"/>
            <a:r>
              <a:rPr lang="en-US"/>
              <a:t>Accuracy</a:t>
            </a:r>
          </a:p>
          <a:p>
            <a:pPr lvl="1"/>
            <a:r>
              <a:rPr lang="en-US"/>
              <a:t>Macro F1 score</a:t>
            </a:r>
          </a:p>
        </p:txBody>
      </p:sp>
      <p:pic>
        <p:nvPicPr>
          <p:cNvPr id="5" name="Picture 4">
            <a:extLst>
              <a:ext uri="{FF2B5EF4-FFF2-40B4-BE49-F238E27FC236}">
                <a16:creationId xmlns:a16="http://schemas.microsoft.com/office/drawing/2014/main" id="{6E214C93-6571-028F-F90C-C640E4A7428C}"/>
              </a:ext>
            </a:extLst>
          </p:cNvPr>
          <p:cNvPicPr>
            <a:picLocks noChangeAspect="1"/>
          </p:cNvPicPr>
          <p:nvPr/>
        </p:nvPicPr>
        <p:blipFill>
          <a:blip r:embed="rId2"/>
          <a:srcRect l="5679" t="33766" r="2595"/>
          <a:stretch>
            <a:fillRect/>
          </a:stretch>
        </p:blipFill>
        <p:spPr>
          <a:xfrm>
            <a:off x="5147630" y="3528725"/>
            <a:ext cx="3687478" cy="700374"/>
          </a:xfrm>
          <a:prstGeom prst="rect">
            <a:avLst/>
          </a:prstGeom>
        </p:spPr>
      </p:pic>
      <p:pic>
        <p:nvPicPr>
          <p:cNvPr id="7" name="Picture 6">
            <a:extLst>
              <a:ext uri="{FF2B5EF4-FFF2-40B4-BE49-F238E27FC236}">
                <a16:creationId xmlns:a16="http://schemas.microsoft.com/office/drawing/2014/main" id="{1946F648-0E1B-3649-650E-CCA2B20F3016}"/>
              </a:ext>
            </a:extLst>
          </p:cNvPr>
          <p:cNvPicPr>
            <a:picLocks noChangeAspect="1"/>
          </p:cNvPicPr>
          <p:nvPr/>
        </p:nvPicPr>
        <p:blipFill>
          <a:blip r:embed="rId3"/>
          <a:srcRect l="2332" r="-80"/>
          <a:stretch>
            <a:fillRect/>
          </a:stretch>
        </p:blipFill>
        <p:spPr>
          <a:xfrm>
            <a:off x="5147630" y="4229099"/>
            <a:ext cx="3687478" cy="847843"/>
          </a:xfrm>
          <a:prstGeom prst="rect">
            <a:avLst/>
          </a:prstGeom>
        </p:spPr>
      </p:pic>
    </p:spTree>
    <p:extLst>
      <p:ext uri="{BB962C8B-B14F-4D97-AF65-F5344CB8AC3E}">
        <p14:creationId xmlns:p14="http://schemas.microsoft.com/office/powerpoint/2010/main" val="574110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3BA5F-48EA-CE01-213C-55D29FBA4715}"/>
              </a:ext>
            </a:extLst>
          </p:cNvPr>
          <p:cNvSpPr>
            <a:spLocks noGrp="1"/>
          </p:cNvSpPr>
          <p:nvPr>
            <p:ph type="title"/>
          </p:nvPr>
        </p:nvSpPr>
        <p:spPr/>
        <p:txBody>
          <a:bodyPr/>
          <a:lstStyle/>
          <a:p>
            <a:r>
              <a:rPr lang="en-US"/>
              <a:t>Evaluation Results</a:t>
            </a:r>
          </a:p>
        </p:txBody>
      </p:sp>
      <p:sp>
        <p:nvSpPr>
          <p:cNvPr id="3" name="Content Placeholder 2">
            <a:extLst>
              <a:ext uri="{FF2B5EF4-FFF2-40B4-BE49-F238E27FC236}">
                <a16:creationId xmlns:a16="http://schemas.microsoft.com/office/drawing/2014/main" id="{714ACD84-8AE7-9CAA-1786-42A0AAFCBF84}"/>
              </a:ext>
            </a:extLst>
          </p:cNvPr>
          <p:cNvSpPr>
            <a:spLocks noGrp="1"/>
          </p:cNvSpPr>
          <p:nvPr>
            <p:ph idx="1"/>
          </p:nvPr>
        </p:nvSpPr>
        <p:spPr/>
        <p:txBody>
          <a:bodyPr/>
          <a:lstStyle/>
          <a:p>
            <a:pPr>
              <a:buClr>
                <a:srgbClr val="1287C3"/>
              </a:buClr>
            </a:pPr>
            <a:r>
              <a:rPr lang="en-US"/>
              <a:t>Linear Regression Accuracy: 0.36   Linear Regression Macro F1: 0.34</a:t>
            </a:r>
          </a:p>
          <a:p>
            <a:pPr>
              <a:buClr>
                <a:srgbClr val="1287C3"/>
              </a:buClr>
            </a:pPr>
            <a:r>
              <a:rPr lang="en-US"/>
              <a:t>Logistic Regression Accuracy: 0.48    Logistic Regression Macro F1: 0.47</a:t>
            </a:r>
          </a:p>
          <a:p>
            <a:pPr>
              <a:buClr>
                <a:srgbClr val="1287C3"/>
              </a:buClr>
            </a:pPr>
            <a:r>
              <a:rPr lang="en-US"/>
              <a:t>Random Forest Accuracy: 0.68    Random Forest Macro F1: 0.68</a:t>
            </a:r>
          </a:p>
        </p:txBody>
      </p:sp>
    </p:spTree>
    <p:extLst>
      <p:ext uri="{BB962C8B-B14F-4D97-AF65-F5344CB8AC3E}">
        <p14:creationId xmlns:p14="http://schemas.microsoft.com/office/powerpoint/2010/main" val="29581456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0653B-7303-3C48-976F-B0D34DA2BA04}"/>
              </a:ext>
            </a:extLst>
          </p:cNvPr>
          <p:cNvSpPr>
            <a:spLocks noGrp="1"/>
          </p:cNvSpPr>
          <p:nvPr>
            <p:ph type="title"/>
          </p:nvPr>
        </p:nvSpPr>
        <p:spPr>
          <a:xfrm>
            <a:off x="1484311" y="-3048"/>
            <a:ext cx="10018713" cy="1752599"/>
          </a:xfrm>
        </p:spPr>
        <p:txBody>
          <a:bodyPr/>
          <a:lstStyle/>
          <a:p>
            <a:r>
              <a:rPr lang="en-US"/>
              <a:t>Visualization Results</a:t>
            </a:r>
          </a:p>
        </p:txBody>
      </p:sp>
      <p:pic>
        <p:nvPicPr>
          <p:cNvPr id="6" name="Content Placeholder 5" descr="A graph of a line graph&#10;&#10;AI-generated content may be incorrect.">
            <a:extLst>
              <a:ext uri="{FF2B5EF4-FFF2-40B4-BE49-F238E27FC236}">
                <a16:creationId xmlns:a16="http://schemas.microsoft.com/office/drawing/2014/main" id="{61533818-4707-FB88-90F1-A1DB002AFE32}"/>
              </a:ext>
            </a:extLst>
          </p:cNvPr>
          <p:cNvPicPr>
            <a:picLocks noGrp="1" noChangeAspect="1"/>
          </p:cNvPicPr>
          <p:nvPr>
            <p:ph idx="1"/>
          </p:nvPr>
        </p:nvPicPr>
        <p:blipFill>
          <a:blip r:embed="rId2"/>
          <a:stretch>
            <a:fillRect/>
          </a:stretch>
        </p:blipFill>
        <p:spPr>
          <a:xfrm>
            <a:off x="732348" y="1374587"/>
            <a:ext cx="5411697" cy="2705849"/>
          </a:xfrm>
          <a:prstGeom prst="rect">
            <a:avLst/>
          </a:prstGeom>
        </p:spPr>
      </p:pic>
      <p:pic>
        <p:nvPicPr>
          <p:cNvPr id="7" name="Picture 6" descr="A graph of a logistic regression multi-class classification&#10;&#10;AI-generated content may be incorrect.">
            <a:extLst>
              <a:ext uri="{FF2B5EF4-FFF2-40B4-BE49-F238E27FC236}">
                <a16:creationId xmlns:a16="http://schemas.microsoft.com/office/drawing/2014/main" id="{F80CFE52-C14D-A72D-9946-B51D1FECEC37}"/>
              </a:ext>
            </a:extLst>
          </p:cNvPr>
          <p:cNvPicPr>
            <a:picLocks noChangeAspect="1"/>
          </p:cNvPicPr>
          <p:nvPr/>
        </p:nvPicPr>
        <p:blipFill>
          <a:blip r:embed="rId3"/>
          <a:stretch>
            <a:fillRect/>
          </a:stretch>
        </p:blipFill>
        <p:spPr>
          <a:xfrm>
            <a:off x="6140824" y="4078940"/>
            <a:ext cx="5192060" cy="2599766"/>
          </a:xfrm>
          <a:prstGeom prst="rect">
            <a:avLst/>
          </a:prstGeom>
        </p:spPr>
      </p:pic>
    </p:spTree>
    <p:extLst>
      <p:ext uri="{BB962C8B-B14F-4D97-AF65-F5344CB8AC3E}">
        <p14:creationId xmlns:p14="http://schemas.microsoft.com/office/powerpoint/2010/main" val="1910518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E4E976-AAFE-56A7-979F-D50C9CC329A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468D5D68-EE25-02C4-AC4A-C3905371564D}"/>
              </a:ext>
            </a:extLst>
          </p:cNvPr>
          <p:cNvPicPr>
            <a:picLocks noChangeAspect="1"/>
          </p:cNvPicPr>
          <p:nvPr/>
        </p:nvPicPr>
        <p:blipFill>
          <a:blip r:embed="rId2"/>
          <a:stretch>
            <a:fillRect/>
          </a:stretch>
        </p:blipFill>
        <p:spPr>
          <a:xfrm>
            <a:off x="0" y="381000"/>
            <a:ext cx="12192000" cy="6096000"/>
          </a:xfrm>
          <a:prstGeom prst="rect">
            <a:avLst/>
          </a:prstGeom>
        </p:spPr>
      </p:pic>
    </p:spTree>
    <p:extLst>
      <p:ext uri="{BB962C8B-B14F-4D97-AF65-F5344CB8AC3E}">
        <p14:creationId xmlns:p14="http://schemas.microsoft.com/office/powerpoint/2010/main" val="23766692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C20F7-4C82-8440-8AA8-F61D54402D5F}"/>
              </a:ext>
            </a:extLst>
          </p:cNvPr>
          <p:cNvSpPr>
            <a:spLocks noGrp="1"/>
          </p:cNvSpPr>
          <p:nvPr>
            <p:ph type="title"/>
          </p:nvPr>
        </p:nvSpPr>
        <p:spPr/>
        <p:txBody>
          <a:bodyPr/>
          <a:lstStyle/>
          <a:p>
            <a:r>
              <a:rPr lang="en-US"/>
              <a:t>Interpretation of Results</a:t>
            </a:r>
          </a:p>
        </p:txBody>
      </p:sp>
      <p:sp>
        <p:nvSpPr>
          <p:cNvPr id="3" name="Content Placeholder 2">
            <a:extLst>
              <a:ext uri="{FF2B5EF4-FFF2-40B4-BE49-F238E27FC236}">
                <a16:creationId xmlns:a16="http://schemas.microsoft.com/office/drawing/2014/main" id="{61BCDB38-04C6-22F7-78D3-E28DB3624EB0}"/>
              </a:ext>
            </a:extLst>
          </p:cNvPr>
          <p:cNvSpPr>
            <a:spLocks noGrp="1"/>
          </p:cNvSpPr>
          <p:nvPr>
            <p:ph idx="1"/>
          </p:nvPr>
        </p:nvSpPr>
        <p:spPr/>
        <p:txBody>
          <a:bodyPr/>
          <a:lstStyle/>
          <a:p>
            <a:pPr>
              <a:buClr>
                <a:srgbClr val="1287C3"/>
              </a:buClr>
            </a:pPr>
            <a:r>
              <a:rPr lang="en-US"/>
              <a:t>Some models more accurate than others </a:t>
            </a:r>
          </a:p>
          <a:p>
            <a:pPr>
              <a:buClr>
                <a:srgbClr val="1287C3"/>
              </a:buClr>
            </a:pPr>
            <a:r>
              <a:rPr lang="en-US"/>
              <a:t>Some features may be more significant than others</a:t>
            </a:r>
          </a:p>
        </p:txBody>
      </p:sp>
    </p:spTree>
    <p:extLst>
      <p:ext uri="{BB962C8B-B14F-4D97-AF65-F5344CB8AC3E}">
        <p14:creationId xmlns:p14="http://schemas.microsoft.com/office/powerpoint/2010/main" val="8061439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43BC1-88BC-2689-9DB3-2DB6DDD98B76}"/>
              </a:ext>
            </a:extLst>
          </p:cNvPr>
          <p:cNvSpPr>
            <a:spLocks noGrp="1"/>
          </p:cNvSpPr>
          <p:nvPr>
            <p:ph type="title"/>
          </p:nvPr>
        </p:nvSpPr>
        <p:spPr/>
        <p:txBody>
          <a:bodyPr/>
          <a:lstStyle/>
          <a:p>
            <a:r>
              <a:rPr lang="en-US"/>
              <a:t>Future Work</a:t>
            </a:r>
          </a:p>
        </p:txBody>
      </p:sp>
      <p:sp>
        <p:nvSpPr>
          <p:cNvPr id="3" name="Content Placeholder 2">
            <a:extLst>
              <a:ext uri="{FF2B5EF4-FFF2-40B4-BE49-F238E27FC236}">
                <a16:creationId xmlns:a16="http://schemas.microsoft.com/office/drawing/2014/main" id="{506EC5AE-9C0A-2799-108C-91D29A5486F8}"/>
              </a:ext>
            </a:extLst>
          </p:cNvPr>
          <p:cNvSpPr>
            <a:spLocks noGrp="1"/>
          </p:cNvSpPr>
          <p:nvPr>
            <p:ph idx="1"/>
          </p:nvPr>
        </p:nvSpPr>
        <p:spPr>
          <a:xfrm>
            <a:off x="1595465" y="2664370"/>
            <a:ext cx="4898202" cy="1856230"/>
          </a:xfrm>
        </p:spPr>
        <p:txBody>
          <a:bodyPr/>
          <a:lstStyle/>
          <a:p>
            <a:r>
              <a:rPr lang="en-US"/>
              <a:t>Challenges</a:t>
            </a:r>
          </a:p>
          <a:p>
            <a:pPr lvl="1"/>
            <a:r>
              <a:rPr lang="en-US"/>
              <a:t>Dataset Size, Complexity</a:t>
            </a:r>
          </a:p>
          <a:p>
            <a:pPr lvl="1"/>
            <a:r>
              <a:rPr lang="en-US"/>
              <a:t>Handling Real-Time Data</a:t>
            </a:r>
          </a:p>
          <a:p>
            <a:pPr lvl="1"/>
            <a:r>
              <a:rPr lang="en-US"/>
              <a:t>Model Complexity</a:t>
            </a:r>
          </a:p>
        </p:txBody>
      </p:sp>
      <p:sp>
        <p:nvSpPr>
          <p:cNvPr id="5" name="TextBox 4">
            <a:extLst>
              <a:ext uri="{FF2B5EF4-FFF2-40B4-BE49-F238E27FC236}">
                <a16:creationId xmlns:a16="http://schemas.microsoft.com/office/drawing/2014/main" id="{81795136-8188-4D3F-B344-459A0E6EB564}"/>
              </a:ext>
            </a:extLst>
          </p:cNvPr>
          <p:cNvSpPr txBox="1"/>
          <p:nvPr/>
        </p:nvSpPr>
        <p:spPr>
          <a:xfrm>
            <a:off x="6493667" y="2251500"/>
            <a:ext cx="4325176" cy="2629951"/>
          </a:xfrm>
          <a:prstGeom prst="rect">
            <a:avLst/>
          </a:prstGeom>
          <a:noFill/>
        </p:spPr>
        <p:txBody>
          <a:bodyPr wrap="square" rtlCol="0">
            <a:spAutoFit/>
          </a:bodyPr>
          <a:lstStyle/>
          <a:p>
            <a:pPr marL="342900" indent="-342900">
              <a:buClr>
                <a:schemeClr val="accent1">
                  <a:lumMod val="75000"/>
                </a:schemeClr>
              </a:buClr>
              <a:buSzPct val="145000"/>
              <a:buFont typeface="Arial" panose="020B0604020202020204" pitchFamily="34" charset="0"/>
              <a:buChar char="•"/>
            </a:pPr>
            <a:endParaRPr lang="en-US" sz="2400"/>
          </a:p>
          <a:p>
            <a:pPr marL="342900" indent="-342900">
              <a:buClr>
                <a:schemeClr val="accent1">
                  <a:lumMod val="75000"/>
                </a:schemeClr>
              </a:buClr>
              <a:buSzPct val="145000"/>
              <a:buFont typeface="Arial" panose="020B0604020202020204" pitchFamily="34" charset="0"/>
              <a:buChar char="•"/>
            </a:pPr>
            <a:r>
              <a:rPr lang="en-US" sz="2400"/>
              <a:t>Improvements</a:t>
            </a:r>
          </a:p>
          <a:p>
            <a:pPr marL="800100" lvl="1" indent="-342900">
              <a:lnSpc>
                <a:spcPct val="150000"/>
              </a:lnSpc>
              <a:buClr>
                <a:schemeClr val="accent1">
                  <a:lumMod val="75000"/>
                </a:schemeClr>
              </a:buClr>
              <a:buSzPct val="145000"/>
              <a:buFont typeface="Arial" panose="020B0604020202020204" pitchFamily="34" charset="0"/>
              <a:buChar char="•"/>
            </a:pPr>
            <a:r>
              <a:rPr lang="en-US" sz="2000"/>
              <a:t>Expansion of the Dataset</a:t>
            </a:r>
          </a:p>
          <a:p>
            <a:pPr marL="800100" lvl="1" indent="-342900">
              <a:lnSpc>
                <a:spcPct val="150000"/>
              </a:lnSpc>
              <a:buClr>
                <a:schemeClr val="accent1">
                  <a:lumMod val="75000"/>
                </a:schemeClr>
              </a:buClr>
              <a:buSzPct val="145000"/>
              <a:buFont typeface="Arial" panose="020B0604020202020204" pitchFamily="34" charset="0"/>
              <a:buChar char="•"/>
            </a:pPr>
            <a:r>
              <a:rPr lang="en-US" sz="2000"/>
              <a:t>Advanced Models</a:t>
            </a:r>
          </a:p>
          <a:p>
            <a:pPr marL="800100" lvl="1" indent="-342900">
              <a:lnSpc>
                <a:spcPct val="150000"/>
              </a:lnSpc>
              <a:buClr>
                <a:schemeClr val="accent1">
                  <a:lumMod val="75000"/>
                </a:schemeClr>
              </a:buClr>
              <a:buSzPct val="145000"/>
              <a:buFont typeface="Arial" panose="020B0604020202020204" pitchFamily="34" charset="0"/>
              <a:buChar char="•"/>
            </a:pPr>
            <a:r>
              <a:rPr lang="en-US" sz="2000"/>
              <a:t>Real-Time Processing</a:t>
            </a:r>
          </a:p>
          <a:p>
            <a:pPr marL="800100" lvl="1" indent="-342900">
              <a:lnSpc>
                <a:spcPct val="150000"/>
              </a:lnSpc>
              <a:buClr>
                <a:schemeClr val="accent1">
                  <a:lumMod val="75000"/>
                </a:schemeClr>
              </a:buClr>
              <a:buSzPct val="145000"/>
              <a:buFont typeface="Arial" panose="020B0604020202020204" pitchFamily="34" charset="0"/>
              <a:buChar char="•"/>
            </a:pPr>
            <a:r>
              <a:rPr lang="en-US" sz="2000"/>
              <a:t>Practical Applications</a:t>
            </a:r>
          </a:p>
        </p:txBody>
      </p:sp>
    </p:spTree>
    <p:extLst>
      <p:ext uri="{BB962C8B-B14F-4D97-AF65-F5344CB8AC3E}">
        <p14:creationId xmlns:p14="http://schemas.microsoft.com/office/powerpoint/2010/main" val="2975768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53FEC-F110-3251-A12A-F76ED89DDCD8}"/>
              </a:ext>
            </a:extLst>
          </p:cNvPr>
          <p:cNvSpPr>
            <a:spLocks noGrp="1"/>
          </p:cNvSpPr>
          <p:nvPr>
            <p:ph type="title"/>
          </p:nvPr>
        </p:nvSpPr>
        <p:spPr/>
        <p:txBody>
          <a:bodyPr/>
          <a:lstStyle/>
          <a:p>
            <a:r>
              <a:rPr lang="en-US"/>
              <a:t>Conclusion</a:t>
            </a:r>
          </a:p>
        </p:txBody>
      </p:sp>
      <p:sp>
        <p:nvSpPr>
          <p:cNvPr id="3" name="Content Placeholder 2">
            <a:extLst>
              <a:ext uri="{FF2B5EF4-FFF2-40B4-BE49-F238E27FC236}">
                <a16:creationId xmlns:a16="http://schemas.microsoft.com/office/drawing/2014/main" id="{70EC1CDB-4D77-11AD-B9FF-C10E832E36AC}"/>
              </a:ext>
            </a:extLst>
          </p:cNvPr>
          <p:cNvSpPr>
            <a:spLocks noGrp="1"/>
          </p:cNvSpPr>
          <p:nvPr>
            <p:ph idx="1"/>
          </p:nvPr>
        </p:nvSpPr>
        <p:spPr/>
        <p:txBody>
          <a:bodyPr/>
          <a:lstStyle/>
          <a:p>
            <a:r>
              <a:rPr lang="en-US"/>
              <a:t>Main insights</a:t>
            </a:r>
          </a:p>
          <a:p>
            <a:pPr lvl="1"/>
            <a:r>
              <a:rPr lang="en-US"/>
              <a:t>Random Forest model outperformed the other models</a:t>
            </a:r>
          </a:p>
          <a:p>
            <a:pPr lvl="1"/>
            <a:r>
              <a:rPr lang="en-US"/>
              <a:t>Importance of dataset size and its need for increase in size for future work</a:t>
            </a:r>
          </a:p>
          <a:p>
            <a:pPr lvl="1"/>
            <a:r>
              <a:rPr lang="en-US"/>
              <a:t>Shows how machine learning can help with classification of network traffic patterns</a:t>
            </a:r>
          </a:p>
          <a:p>
            <a:pPr lvl="1"/>
            <a:endParaRPr lang="en-US"/>
          </a:p>
        </p:txBody>
      </p:sp>
    </p:spTree>
    <p:extLst>
      <p:ext uri="{BB962C8B-B14F-4D97-AF65-F5344CB8AC3E}">
        <p14:creationId xmlns:p14="http://schemas.microsoft.com/office/powerpoint/2010/main" val="22461081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89EE4-FE3F-311F-E2EB-D8677F63D1F1}"/>
              </a:ext>
            </a:extLst>
          </p:cNvPr>
          <p:cNvSpPr>
            <a:spLocks noGrp="1"/>
          </p:cNvSpPr>
          <p:nvPr>
            <p:ph type="title"/>
          </p:nvPr>
        </p:nvSpPr>
        <p:spPr/>
        <p:txBody>
          <a:bodyPr/>
          <a:lstStyle/>
          <a:p>
            <a:r>
              <a:rPr lang="en-US"/>
              <a:t>References</a:t>
            </a:r>
          </a:p>
        </p:txBody>
      </p:sp>
      <p:sp>
        <p:nvSpPr>
          <p:cNvPr id="3" name="Content Placeholder 2">
            <a:extLst>
              <a:ext uri="{FF2B5EF4-FFF2-40B4-BE49-F238E27FC236}">
                <a16:creationId xmlns:a16="http://schemas.microsoft.com/office/drawing/2014/main" id="{A0F35035-5051-554D-F543-EE72D0DB7FDF}"/>
              </a:ext>
            </a:extLst>
          </p:cNvPr>
          <p:cNvSpPr>
            <a:spLocks noGrp="1"/>
          </p:cNvSpPr>
          <p:nvPr>
            <p:ph idx="1"/>
          </p:nvPr>
        </p:nvSpPr>
        <p:spPr/>
        <p:txBody>
          <a:bodyPr/>
          <a:lstStyle/>
          <a:p>
            <a:r>
              <a:rPr lang="en-US">
                <a:ea typeface="+mn-lt"/>
                <a:cs typeface="+mn-lt"/>
                <a:hlinkClick r:id="rId2"/>
              </a:rPr>
              <a:t>Network Traffic Classification Techniques: A Survey | IEEE Conference Publication | IEEE Xplore</a:t>
            </a:r>
          </a:p>
          <a:p>
            <a:pPr>
              <a:buClr>
                <a:srgbClr val="1287C3"/>
              </a:buClr>
            </a:pPr>
            <a:r>
              <a:rPr lang="en-US">
                <a:ea typeface="+mn-lt"/>
                <a:cs typeface="+mn-lt"/>
                <a:hlinkClick r:id="rId3"/>
              </a:rPr>
              <a:t>Wireshark • Go Deep</a:t>
            </a:r>
          </a:p>
          <a:p>
            <a:pPr>
              <a:buClr>
                <a:srgbClr val="1287C3"/>
              </a:buClr>
            </a:pPr>
            <a:r>
              <a:rPr lang="en-US">
                <a:ea typeface="+mn-lt"/>
                <a:cs typeface="+mn-lt"/>
                <a:hlinkClick r:id="rId4"/>
              </a:rPr>
              <a:t>Machine Learning Made Easy: A Review of "Scikit-learn" Package in Python Programming Language on JSTOR</a:t>
            </a:r>
          </a:p>
          <a:p>
            <a:pPr>
              <a:buClr>
                <a:srgbClr val="1287C3"/>
              </a:buClr>
            </a:pPr>
            <a:r>
              <a:rPr lang="en-US" err="1">
                <a:ea typeface="+mn-lt"/>
                <a:cs typeface="+mn-lt"/>
                <a:hlinkClick r:id="rId5"/>
              </a:rPr>
              <a:t>RandomForestClassifier</a:t>
            </a:r>
            <a:r>
              <a:rPr lang="en-US">
                <a:ea typeface="+mn-lt"/>
                <a:cs typeface="+mn-lt"/>
                <a:hlinkClick r:id="rId5"/>
              </a:rPr>
              <a:t> — scikit-learn 1.8.0 documentation</a:t>
            </a:r>
            <a:endParaRPr lang="en-US"/>
          </a:p>
        </p:txBody>
      </p:sp>
    </p:spTree>
    <p:extLst>
      <p:ext uri="{BB962C8B-B14F-4D97-AF65-F5344CB8AC3E}">
        <p14:creationId xmlns:p14="http://schemas.microsoft.com/office/powerpoint/2010/main" val="325141607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7bcfb77a-0d04-4d39-a1da-abbc10082cd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820D1BB45C5B04989BD0658BE0035CA" ma:contentTypeVersion="10" ma:contentTypeDescription="Create a new document." ma:contentTypeScope="" ma:versionID="4875a40d73c7e1f3be6b4ce750fc5242">
  <xsd:schema xmlns:xsd="http://www.w3.org/2001/XMLSchema" xmlns:xs="http://www.w3.org/2001/XMLSchema" xmlns:p="http://schemas.microsoft.com/office/2006/metadata/properties" xmlns:ns3="7bcfb77a-0d04-4d39-a1da-abbc10082cde" targetNamespace="http://schemas.microsoft.com/office/2006/metadata/properties" ma:root="true" ma:fieldsID="a9e1b1a633a511498fbd7ee146ca990a" ns3:_="">
    <xsd:import namespace="7bcfb77a-0d04-4d39-a1da-abbc10082cde"/>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3:_activity" minOccurs="0"/>
                <xsd:element ref="ns3:MediaServiceSearchProperties" minOccurs="0"/>
                <xsd:element ref="ns3:MediaServiceDateTaken" minOccurs="0"/>
                <xsd:element ref="ns3:MediaServiceSystemTags"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bcfb77a-0d04-4d39-a1da-abbc10082cd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_activity" ma:index="11" nillable="true" ma:displayName="_activity" ma:hidden="true" ma:internalName="_activity">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SystemTags" ma:index="14" nillable="true" ma:displayName="MediaServiceSystemTags" ma:hidden="true" ma:internalName="MediaServiceSystemTags" ma:readOnly="true">
      <xsd:simpleType>
        <xsd:restriction base="dms:Note"/>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28D1346-E11B-48D7-B6D8-55FA4D26DC39}">
  <ds:schemaRefs>
    <ds:schemaRef ds:uri="7bcfb77a-0d04-4d39-a1da-abbc10082cd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7C6A45B-6243-4DB6-889A-985984A70D72}">
  <ds:schemaRefs>
    <ds:schemaRef ds:uri="7bcfb77a-0d04-4d39-a1da-abbc10082cd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7A14FE8-55A8-477F-876B-E3C3881BFED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TM03457496[[fn=Parallax]]</Template>
  <Application>Microsoft Office PowerPoint</Application>
  <PresentationFormat>Widescreen</PresentationFormat>
  <Slides>15</Slides>
  <Notes>0</Notes>
  <HiddenSlides>0</HiddenSlide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Parallax</vt:lpstr>
      <vt:lpstr>Coll 400 Presentation</vt:lpstr>
      <vt:lpstr>Abstract</vt:lpstr>
      <vt:lpstr>Introduction</vt:lpstr>
      <vt:lpstr>Data Preparation</vt:lpstr>
      <vt:lpstr>Employed Method</vt:lpstr>
      <vt:lpstr>Employed Method</vt:lpstr>
      <vt:lpstr>Dataset</vt:lpstr>
      <vt:lpstr>Evaluation Metrics</vt:lpstr>
      <vt:lpstr>Evaluation Results</vt:lpstr>
      <vt:lpstr>Visualization Results</vt:lpstr>
      <vt:lpstr>PowerPoint Presentation</vt:lpstr>
      <vt:lpstr>Interpretation of Results</vt:lpstr>
      <vt:lpstr>Future Work</vt:lpstr>
      <vt:lpstr>Conclusion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Wright, Conner</dc:creator>
  <cp:revision>4</cp:revision>
  <dcterms:created xsi:type="dcterms:W3CDTF">2026-04-26T18:58:39Z</dcterms:created>
  <dcterms:modified xsi:type="dcterms:W3CDTF">2026-05-01T22:05:13Z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0x0101005820D1BB45C5B04989BD0658BE0035CA</vt:lpwstr>
  </property>
</Properties>
</file>